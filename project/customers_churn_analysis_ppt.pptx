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56" r:id="rId9"/>
    <p:sldId id="257" r:id="rId10"/>
    <p:sldId id="258" r:id="rId11"/>
    <p:sldId id="259" r:id="rId12"/>
    <p:sldId id="260" r:id="rId13"/>
    <p:sldId id="268" r:id="rId14"/>
    <p:sldId id="270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8466" y="-8468"/>
            <a:ext cx="9169804" cy="6874935"/>
            <a:chOff x="-8466" y="-8468"/>
            <a:chExt cx="9169804" cy="6874935"/>
          </a:xfrm>
        </p:grpSpPr>
        <p:cxnSp>
          <p:nvCxnSpPr>
            <p:cNvPr id="17" name="Straight Connector 16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Freeform 18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19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20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21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22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Freeform 23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24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Freeform 27"/>
            <p:cNvSpPr/>
            <p:nvPr/>
          </p:nvSpPr>
          <p:spPr>
            <a:xfrm>
              <a:off x="-8466" y="-8468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595" y="2404534"/>
            <a:ext cx="5826719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595" y="4050834"/>
            <a:ext cx="5826719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604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3399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2700868"/>
            <a:ext cx="6347715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540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2160589"/>
            <a:ext cx="3088109" cy="3880772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9204" y="2160590"/>
            <a:ext cx="3088110" cy="388077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012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99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6640" y="2160983"/>
            <a:ext cx="309067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6640" y="2737246"/>
            <a:ext cx="3090672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929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4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644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833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1498604"/>
            <a:ext cx="2790182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1275" y="514925"/>
            <a:ext cx="3386037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2777069"/>
            <a:ext cx="2790182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9402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4800600"/>
            <a:ext cx="6347714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" y="609600"/>
            <a:ext cx="6347714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99" y="5367338"/>
            <a:ext cx="6347714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961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609600"/>
            <a:ext cx="6347714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4470400"/>
            <a:ext cx="6347714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8150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01074" y="3632200"/>
            <a:ext cx="541980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470400"/>
            <a:ext cx="6347715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232130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8" y="1931988"/>
            <a:ext cx="6347715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348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4885" y="609600"/>
            <a:ext cx="6072182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82711" y="790378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47699" y="2886556"/>
            <a:ext cx="45731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40303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5848" y="609600"/>
            <a:ext cx="6341465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09597" y="4013200"/>
            <a:ext cx="6347716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8" y="4527448"/>
            <a:ext cx="6347715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2897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4055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7312" y="609600"/>
            <a:ext cx="978812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99" y="609600"/>
            <a:ext cx="5195026" cy="525145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5265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/>
          <p:cNvGrpSpPr/>
          <p:nvPr/>
        </p:nvGrpSpPr>
        <p:grpSpPr>
          <a:xfrm>
            <a:off x="-8467" y="-8468"/>
            <a:ext cx="9169805" cy="6874935"/>
            <a:chOff x="-8467" y="-8468"/>
            <a:chExt cx="9169805" cy="6874935"/>
          </a:xfrm>
        </p:grpSpPr>
        <p:sp>
          <p:nvSpPr>
            <p:cNvPr id="7" name="Freeform 6"/>
            <p:cNvSpPr/>
            <p:nvPr/>
          </p:nvSpPr>
          <p:spPr>
            <a:xfrm>
              <a:off x="-8467" y="4013200"/>
              <a:ext cx="457200" cy="2853267"/>
            </a:xfrm>
            <a:custGeom>
              <a:avLst/>
              <a:gdLst/>
              <a:ahLst/>
              <a:cxnLst/>
              <a:rect l="l" t="t" r="r" b="b"/>
              <a:pathLst>
                <a:path w="457200" h="2853267">
                  <a:moveTo>
                    <a:pt x="0" y="0"/>
                  </a:moveTo>
                  <a:lnTo>
                    <a:pt x="457200" y="2853267"/>
                  </a:lnTo>
                  <a:lnTo>
                    <a:pt x="0" y="2844800"/>
                  </a:lnTo>
                  <a:cubicBezTo>
                    <a:pt x="2822" y="1905000"/>
                    <a:pt x="5645" y="965200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8" name="Straight Connector 7"/>
            <p:cNvCxnSpPr/>
            <p:nvPr/>
          </p:nvCxnSpPr>
          <p:spPr>
            <a:xfrm flipV="1">
              <a:off x="5130830" y="4175605"/>
              <a:ext cx="4022475" cy="2682396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>
              <a:off x="7042707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Freeform 9"/>
            <p:cNvSpPr/>
            <p:nvPr/>
          </p:nvSpPr>
          <p:spPr>
            <a:xfrm>
              <a:off x="6891896" y="1"/>
              <a:ext cx="2269442" cy="6866466"/>
            </a:xfrm>
            <a:custGeom>
              <a:avLst/>
              <a:gdLst/>
              <a:ahLst/>
              <a:cxnLst/>
              <a:rect l="l" t="t" r="r" b="b"/>
              <a:pathLst>
                <a:path w="2269442" h="6866466">
                  <a:moveTo>
                    <a:pt x="2023534" y="0"/>
                  </a:moveTo>
                  <a:lnTo>
                    <a:pt x="0" y="6858000"/>
                  </a:lnTo>
                  <a:lnTo>
                    <a:pt x="2269067" y="6866466"/>
                  </a:lnTo>
                  <a:cubicBezTo>
                    <a:pt x="2271889" y="4580466"/>
                    <a:pt x="2257778" y="2294466"/>
                    <a:pt x="2260600" y="8466"/>
                  </a:cubicBezTo>
                  <a:lnTo>
                    <a:pt x="2023534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10"/>
            <p:cNvSpPr/>
            <p:nvPr/>
          </p:nvSpPr>
          <p:spPr>
            <a:xfrm>
              <a:off x="7205158" y="-8467"/>
              <a:ext cx="1948147" cy="6866467"/>
            </a:xfrm>
            <a:custGeom>
              <a:avLst/>
              <a:gdLst/>
              <a:ahLst/>
              <a:cxnLst/>
              <a:rect l="l" t="t" r="r" b="b"/>
              <a:pathLst>
                <a:path w="1948147" h="6866467">
                  <a:moveTo>
                    <a:pt x="0" y="0"/>
                  </a:moveTo>
                  <a:lnTo>
                    <a:pt x="1202267" y="6866467"/>
                  </a:lnTo>
                  <a:lnTo>
                    <a:pt x="1947333" y="6866467"/>
                  </a:lnTo>
                  <a:cubicBezTo>
                    <a:pt x="1944511" y="4577645"/>
                    <a:pt x="1950155" y="2288822"/>
                    <a:pt x="1947333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6637896" y="3920066"/>
              <a:ext cx="2513565" cy="2937933"/>
            </a:xfrm>
            <a:custGeom>
              <a:avLst/>
              <a:gdLst/>
              <a:ahLst/>
              <a:cxnLst/>
              <a:rect l="l" t="t" r="r" b="b"/>
              <a:pathLst>
                <a:path w="3259667" h="3810000">
                  <a:moveTo>
                    <a:pt x="0" y="3810000"/>
                  </a:moveTo>
                  <a:lnTo>
                    <a:pt x="3251200" y="0"/>
                  </a:lnTo>
                  <a:cubicBezTo>
                    <a:pt x="3254022" y="1270000"/>
                    <a:pt x="3256845" y="2540000"/>
                    <a:pt x="3259667" y="3810000"/>
                  </a:cubicBezTo>
                  <a:lnTo>
                    <a:pt x="0" y="3810000"/>
                  </a:lnTo>
                  <a:close/>
                </a:path>
              </a:pathLst>
            </a:cu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12"/>
            <p:cNvSpPr/>
            <p:nvPr/>
          </p:nvSpPr>
          <p:spPr>
            <a:xfrm>
              <a:off x="7010429" y="-8467"/>
              <a:ext cx="2142876" cy="6866467"/>
            </a:xfrm>
            <a:custGeom>
              <a:avLst/>
              <a:gdLst/>
              <a:ahLst/>
              <a:cxnLst/>
              <a:rect l="l" t="t" r="r" b="b"/>
              <a:pathLst>
                <a:path w="2853267" h="6866467">
                  <a:moveTo>
                    <a:pt x="0" y="0"/>
                  </a:moveTo>
                  <a:lnTo>
                    <a:pt x="2472267" y="6866467"/>
                  </a:lnTo>
                  <a:lnTo>
                    <a:pt x="2853267" y="6858000"/>
                  </a:lnTo>
                  <a:lnTo>
                    <a:pt x="285326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13"/>
            <p:cNvSpPr/>
            <p:nvPr/>
          </p:nvSpPr>
          <p:spPr>
            <a:xfrm>
              <a:off x="8295776" y="-8467"/>
              <a:ext cx="857530" cy="6866467"/>
            </a:xfrm>
            <a:custGeom>
              <a:avLst/>
              <a:gdLst/>
              <a:ahLst/>
              <a:cxnLst/>
              <a:rect l="l" t="t" r="r" b="b"/>
              <a:pathLst>
                <a:path w="1286933" h="6866467">
                  <a:moveTo>
                    <a:pt x="1016000" y="0"/>
                  </a:moveTo>
                  <a:lnTo>
                    <a:pt x="0" y="6866467"/>
                  </a:lnTo>
                  <a:lnTo>
                    <a:pt x="1286933" y="6866467"/>
                  </a:lnTo>
                  <a:cubicBezTo>
                    <a:pt x="1284111" y="4577645"/>
                    <a:pt x="1281288" y="2288822"/>
                    <a:pt x="1278466" y="0"/>
                  </a:cubicBezTo>
                  <a:lnTo>
                    <a:pt x="1016000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Freeform 14"/>
            <p:cNvSpPr/>
            <p:nvPr/>
          </p:nvSpPr>
          <p:spPr>
            <a:xfrm>
              <a:off x="8077231" y="-8468"/>
              <a:ext cx="1066770" cy="6866467"/>
            </a:xfrm>
            <a:custGeom>
              <a:avLst/>
              <a:gdLst/>
              <a:ahLst/>
              <a:cxnLst/>
              <a:rect l="l" t="t" r="r" b="b"/>
              <a:pathLst>
                <a:path w="1270244" h="6866467">
                  <a:moveTo>
                    <a:pt x="0" y="0"/>
                  </a:moveTo>
                  <a:lnTo>
                    <a:pt x="1117600" y="6866467"/>
                  </a:lnTo>
                  <a:lnTo>
                    <a:pt x="1270000" y="6866467"/>
                  </a:lnTo>
                  <a:cubicBezTo>
                    <a:pt x="1272822" y="4574822"/>
                    <a:pt x="1250245" y="2291645"/>
                    <a:pt x="1253067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Freeform 15"/>
            <p:cNvSpPr/>
            <p:nvPr/>
          </p:nvSpPr>
          <p:spPr>
            <a:xfrm>
              <a:off x="8060297" y="4893733"/>
              <a:ext cx="1094086" cy="1964267"/>
            </a:xfrm>
            <a:custGeom>
              <a:avLst/>
              <a:gdLst/>
              <a:ahLst/>
              <a:cxnLst/>
              <a:rect l="l" t="t" r="r" b="b"/>
              <a:pathLst>
                <a:path w="1820333" h="3268133">
                  <a:moveTo>
                    <a:pt x="0" y="3268133"/>
                  </a:moveTo>
                  <a:lnTo>
                    <a:pt x="1811866" y="0"/>
                  </a:lnTo>
                  <a:cubicBezTo>
                    <a:pt x="1814688" y="1086555"/>
                    <a:pt x="1817511" y="2173111"/>
                    <a:pt x="1820333" y="3259666"/>
                  </a:cubicBezTo>
                  <a:lnTo>
                    <a:pt x="0" y="3268133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99" y="609600"/>
            <a:ext cx="6347713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99" y="2160590"/>
            <a:ext cx="6347714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405258" y="6041363"/>
            <a:ext cx="6841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9599" y="6041363"/>
            <a:ext cx="46229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44676" y="6041363"/>
            <a:ext cx="5126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7875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6251"/>
            <a:ext cx="8229600" cy="1143000"/>
          </a:xfrm>
        </p:spPr>
        <p:txBody>
          <a:bodyPr>
            <a:normAutofit fontScale="90000"/>
          </a:bodyPr>
          <a:lstStyle/>
          <a:p>
            <a:r>
              <a:rPr dirty="0"/>
              <a:t>Customer Churn Prediction</a:t>
            </a:r>
          </a:p>
          <a:p>
            <a:r>
              <a:rPr dirty="0"/>
              <a:t>Brazilian E‑Commerce (</a:t>
            </a:r>
            <a:r>
              <a:rPr dirty="0" err="1"/>
              <a:t>Olist</a:t>
            </a:r>
            <a:r>
              <a:rPr dirty="0"/>
              <a:t> Dataset)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0220" y="2898057"/>
            <a:ext cx="8229600" cy="3060291"/>
          </a:xfrm>
        </p:spPr>
        <p:txBody>
          <a:bodyPr/>
          <a:lstStyle/>
          <a:p>
            <a:r>
              <a:rPr dirty="0"/>
              <a:t>End‑to‑End Data Analytics </a:t>
            </a:r>
            <a:r>
              <a:rPr lang="en-IN" dirty="0"/>
              <a:t>project</a:t>
            </a:r>
          </a:p>
          <a:p>
            <a:r>
              <a:rPr dirty="0"/>
              <a:t>Tools: SQL, Python, Pandas</a:t>
            </a:r>
          </a:p>
          <a:p>
            <a:r>
              <a:rPr dirty="0"/>
              <a:t>Goal: </a:t>
            </a:r>
            <a:r>
              <a:rPr lang="en-US" dirty="0"/>
              <a:t>Analyze customer transaction data to identify behavioral patterns that lead to customer churn and help businesses improve customer retention.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Analyze customer purchase behavior</a:t>
            </a:r>
          </a:p>
          <a:p>
            <a:r>
              <a:t>• Identify factors that lead to churn</a:t>
            </a:r>
          </a:p>
          <a:p>
            <a:r>
              <a:t>• Build machine learning models to predict churn</a:t>
            </a:r>
          </a:p>
          <a:p>
            <a:r>
              <a:t>• Provide actionable recommendations to reduce churn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835742"/>
          </a:xfrm>
        </p:spPr>
        <p:txBody>
          <a:bodyPr/>
          <a:lstStyle/>
          <a:p>
            <a:r>
              <a:rPr dirty="0"/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9380" y="1236406"/>
            <a:ext cx="8229600" cy="4525963"/>
          </a:xfrm>
        </p:spPr>
        <p:txBody>
          <a:bodyPr>
            <a:normAutofit/>
          </a:bodyPr>
          <a:lstStyle/>
          <a:p>
            <a:r>
              <a:rPr dirty="0"/>
              <a:t>Dataset: Brazilian E‑Commerce Public Dataset by </a:t>
            </a:r>
            <a:r>
              <a:rPr dirty="0" err="1"/>
              <a:t>Olist</a:t>
            </a:r>
            <a:endParaRPr dirty="0"/>
          </a:p>
          <a:p>
            <a:r>
              <a:rPr dirty="0"/>
              <a:t>Contains ~100k orders (2016–2018)</a:t>
            </a:r>
          </a:p>
          <a:p>
            <a:r>
              <a:rPr dirty="0"/>
              <a:t>Multiple relational tables including:</a:t>
            </a:r>
          </a:p>
          <a:p>
            <a:r>
              <a:rPr dirty="0"/>
              <a:t>• Customers</a:t>
            </a:r>
          </a:p>
          <a:p>
            <a:r>
              <a:rPr dirty="0"/>
              <a:t>• Orders</a:t>
            </a:r>
          </a:p>
          <a:p>
            <a:r>
              <a:rPr dirty="0"/>
              <a:t>• Order Items</a:t>
            </a:r>
          </a:p>
          <a:p>
            <a:r>
              <a:rPr dirty="0"/>
              <a:t>• Payments</a:t>
            </a:r>
          </a:p>
          <a:p>
            <a:r>
              <a:rPr dirty="0"/>
              <a:t>• Reviews</a:t>
            </a:r>
          </a:p>
          <a:p>
            <a:r>
              <a:rPr dirty="0"/>
              <a:t>• Products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dirty="0"/>
              <a:t>1. Data Collection</a:t>
            </a:r>
          </a:p>
          <a:p>
            <a:r>
              <a:rPr dirty="0"/>
              <a:t>2. Database Creation (SQLite)</a:t>
            </a:r>
          </a:p>
          <a:p>
            <a:r>
              <a:rPr dirty="0"/>
              <a:t>3. SQL Exploratory Analysis</a:t>
            </a:r>
          </a:p>
          <a:p>
            <a:r>
              <a:rPr dirty="0"/>
              <a:t>4. Data Cleaning &amp; Preparation (Pandas)</a:t>
            </a:r>
          </a:p>
          <a:p>
            <a:r>
              <a:rPr dirty="0"/>
              <a:t>5. Feature Engineering</a:t>
            </a:r>
          </a:p>
          <a:p>
            <a:r>
              <a:rPr lang="en-IN" dirty="0"/>
              <a:t>6. Business Insights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SQL Exploratory Data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business questions answered using SQL:</a:t>
            </a:r>
          </a:p>
          <a:p>
            <a:r>
              <a:t>• Monthly sales trends</a:t>
            </a:r>
          </a:p>
          <a:p>
            <a:r>
              <a:t>• Top customers by revenue</a:t>
            </a:r>
          </a:p>
          <a:p>
            <a:r>
              <a:t>• Payment method analysis</a:t>
            </a:r>
          </a:p>
          <a:p>
            <a:r>
              <a:t>• Product category performance</a:t>
            </a:r>
          </a:p>
          <a:p>
            <a:r>
              <a:t>• Customer purchase frequency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Cleaning &amp;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Steps performed:</a:t>
            </a:r>
          </a:p>
          <a:p>
            <a:r>
              <a:t>• Handling missing values</a:t>
            </a:r>
          </a:p>
          <a:p>
            <a:r>
              <a:t>• Converting date columns</a:t>
            </a:r>
          </a:p>
          <a:p>
            <a:r>
              <a:t>• Removing duplicates</a:t>
            </a:r>
          </a:p>
          <a:p>
            <a:r>
              <a:t>• Creating aggregated customer metrics</a:t>
            </a:r>
          </a:p>
          <a:p>
            <a:r>
              <a:t>• Preparing dataset for machine learning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Important features created:</a:t>
            </a:r>
          </a:p>
          <a:p>
            <a:r>
              <a:t>• Total orders per customer</a:t>
            </a:r>
          </a:p>
          <a:p>
            <a:r>
              <a:t>• Average order value</a:t>
            </a:r>
          </a:p>
          <a:p>
            <a:r>
              <a:t>• Total amount spent</a:t>
            </a:r>
          </a:p>
          <a:p>
            <a:r>
              <a:t>• Days since last purchase</a:t>
            </a:r>
          </a:p>
          <a:p>
            <a:r>
              <a:t>• Payment behavior patterns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1625"/>
            <a:ext cx="8229600" cy="783022"/>
          </a:xfrm>
        </p:spPr>
        <p:txBody>
          <a:bodyPr/>
          <a:lstStyle/>
          <a:p>
            <a:r>
              <a:rPr dirty="0"/>
              <a:t>Monthly Sales Trend (Revenue)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7869" y="4778628"/>
            <a:ext cx="600" cy="3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Insight:</a:t>
            </a:r>
          </a:p>
          <a:p>
            <a:r>
              <a:rPr dirty="0"/>
              <a:t>• Revenue trend shows how sales fluctuate month-to-month across the platform.</a:t>
            </a:r>
          </a:p>
          <a:p>
            <a:r>
              <a:rPr dirty="0"/>
              <a:t>• Peaks indicate seasonal demand or successful promotional campaigns.</a:t>
            </a:r>
          </a:p>
          <a:p>
            <a:endParaRPr dirty="0"/>
          </a:p>
          <a:p>
            <a:r>
              <a:rPr dirty="0"/>
              <a:t>Recommendation:</a:t>
            </a:r>
          </a:p>
          <a:p>
            <a:r>
              <a:rPr dirty="0"/>
              <a:t>• Run marketing campaigns before historically high‑performing months.</a:t>
            </a:r>
          </a:p>
          <a:p>
            <a:r>
              <a:rPr dirty="0"/>
              <a:t>• Investigate low‑revenue months and introduce targeted discounts.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CBFE17-FE80-B2B7-52F6-F93DD1DDF1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69" y="1048429"/>
            <a:ext cx="7128338" cy="351058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374" y="0"/>
            <a:ext cx="8229600" cy="924232"/>
          </a:xfrm>
        </p:spPr>
        <p:txBody>
          <a:bodyPr/>
          <a:lstStyle/>
          <a:p>
            <a:r>
              <a:rPr dirty="0"/>
              <a:t>On‑Time vs Late Deliveries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67198" y="4886782"/>
            <a:ext cx="600" cy="3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Insight:</a:t>
            </a:r>
          </a:p>
          <a:p>
            <a:r>
              <a:rPr dirty="0"/>
              <a:t>• Delivery performance distribution shows how often orders arrive late vs on time.</a:t>
            </a:r>
          </a:p>
          <a:p>
            <a:r>
              <a:rPr dirty="0"/>
              <a:t>• Higher late deliveries may indicate logistics or courier inefficiencies.</a:t>
            </a:r>
          </a:p>
          <a:p>
            <a:endParaRPr dirty="0"/>
          </a:p>
          <a:p>
            <a:r>
              <a:rPr dirty="0"/>
              <a:t>Recommendation:</a:t>
            </a:r>
          </a:p>
          <a:p>
            <a:r>
              <a:rPr dirty="0"/>
              <a:t>• Improve logistics coordination with delivery partners.</a:t>
            </a:r>
          </a:p>
          <a:p>
            <a:r>
              <a:rPr dirty="0"/>
              <a:t>• Implement real‑time tracking and proactive delay notifications.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7A393-5097-FEDB-EC0B-838DADE5F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215" y="924232"/>
            <a:ext cx="5964063" cy="3365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204" y="46031"/>
            <a:ext cx="7383977" cy="806910"/>
          </a:xfrm>
        </p:spPr>
        <p:txBody>
          <a:bodyPr>
            <a:normAutofit/>
          </a:bodyPr>
          <a:lstStyle/>
          <a:p>
            <a:r>
              <a:rPr sz="3200" dirty="0"/>
              <a:t>Top Product Categories by Revenue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204" y="4857285"/>
            <a:ext cx="600" cy="3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Insight:</a:t>
            </a:r>
          </a:p>
          <a:p>
            <a:r>
              <a:rPr dirty="0"/>
              <a:t>• Some product categories contribute disproportionately to total revenue.</a:t>
            </a:r>
          </a:p>
          <a:p>
            <a:r>
              <a:rPr dirty="0"/>
              <a:t>• Identifies the most profitable segments of the marketplace.</a:t>
            </a:r>
          </a:p>
          <a:p>
            <a:endParaRPr dirty="0"/>
          </a:p>
          <a:p>
            <a:r>
              <a:rPr dirty="0"/>
              <a:t>Recommendation:</a:t>
            </a:r>
          </a:p>
          <a:p>
            <a:r>
              <a:rPr dirty="0"/>
              <a:t>• Prioritize marketing for top‑performing categories.</a:t>
            </a:r>
          </a:p>
          <a:p>
            <a:r>
              <a:rPr dirty="0"/>
              <a:t>• Expand inventory and supplier partnerships in high‑revenue segments.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241F00-D10A-E8FC-E796-303917C469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04" y="1133235"/>
            <a:ext cx="7068744" cy="316346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50361" y="117987"/>
            <a:ext cx="8425645" cy="610028"/>
          </a:xfrm>
        </p:spPr>
        <p:txBody>
          <a:bodyPr>
            <a:normAutofit/>
          </a:bodyPr>
          <a:lstStyle/>
          <a:p>
            <a:r>
              <a:rPr sz="2800" dirty="0"/>
              <a:t>Impact of Delivery Delay on Customer Churn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7534" y="4837621"/>
            <a:ext cx="600" cy="3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Insight:</a:t>
            </a:r>
          </a:p>
          <a:p>
            <a:r>
              <a:rPr dirty="0"/>
              <a:t>• Customers experiencing late deliveries show higher churn probability.</a:t>
            </a:r>
          </a:p>
          <a:p>
            <a:r>
              <a:rPr dirty="0"/>
              <a:t>• Delivery experience is a strong driver of customer retention.</a:t>
            </a:r>
          </a:p>
          <a:p>
            <a:endParaRPr dirty="0"/>
          </a:p>
          <a:p>
            <a:r>
              <a:rPr dirty="0"/>
              <a:t>Recommendation:</a:t>
            </a:r>
          </a:p>
          <a:p>
            <a:r>
              <a:rPr dirty="0"/>
              <a:t>• Prioritize faster fulfillment for repeat customers.</a:t>
            </a:r>
          </a:p>
          <a:p>
            <a:r>
              <a:rPr dirty="0"/>
              <a:t>• Offer compensation or discounts when deliveries are significantly delayed.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EBA40AB-2076-F472-09D5-AAEEAD8E44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34" y="974172"/>
            <a:ext cx="6881331" cy="35000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9213" y="11625"/>
            <a:ext cx="8229600" cy="706130"/>
          </a:xfrm>
        </p:spPr>
        <p:txBody>
          <a:bodyPr>
            <a:normAutofit/>
          </a:bodyPr>
          <a:lstStyle/>
          <a:p>
            <a:r>
              <a:rPr dirty="0"/>
              <a:t>Customer Churn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" y="4549676"/>
            <a:ext cx="7663123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Insight:</a:t>
            </a:r>
          </a:p>
          <a:p>
            <a:r>
              <a:rPr dirty="0"/>
              <a:t>• Shows the proportion of customers who churned vs retained.</a:t>
            </a:r>
          </a:p>
          <a:p>
            <a:r>
              <a:rPr dirty="0"/>
              <a:t>• Helps understand the overall churn severity in the dataset.</a:t>
            </a:r>
          </a:p>
          <a:p>
            <a:endParaRPr dirty="0"/>
          </a:p>
          <a:p>
            <a:endParaRPr lang="en-IN" dirty="0"/>
          </a:p>
          <a:p>
            <a:r>
              <a:rPr dirty="0"/>
              <a:t>Recommendation:</a:t>
            </a:r>
          </a:p>
          <a:p>
            <a:r>
              <a:rPr dirty="0"/>
              <a:t>• Launch retention campaigns for customers with declining purchase frequency.</a:t>
            </a:r>
          </a:p>
          <a:p>
            <a:r>
              <a:rPr dirty="0"/>
              <a:t>• Introduce loyalty programs for repeat customers.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6040FC9-F397-B118-010D-744E1CD94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202" y="1133353"/>
            <a:ext cx="6043366" cy="300072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Launch targeted retention campaigns</a:t>
            </a:r>
          </a:p>
          <a:p>
            <a:r>
              <a:t>• Offer discounts to inactive customers</a:t>
            </a:r>
          </a:p>
          <a:p>
            <a:r>
              <a:t>• Create loyalty programs for high‑value customers</a:t>
            </a:r>
          </a:p>
          <a:p>
            <a:r>
              <a:t>• Improve customer support for negative review segments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4B326-027B-8EBA-82EB-C0CD0EFED4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" y="2160591"/>
            <a:ext cx="7433188" cy="267688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IN" sz="7200" dirty="0">
                <a:latin typeface="Algerian" panose="04020705040A02060702" pitchFamily="82" charset="0"/>
              </a:rPr>
              <a:t>THANK</a:t>
            </a:r>
            <a:r>
              <a:rPr lang="en-IN" sz="7200" dirty="0"/>
              <a:t> </a:t>
            </a:r>
            <a:r>
              <a:rPr lang="en-IN" sz="7200" dirty="0">
                <a:latin typeface="Algerian" panose="04020705040A02060702" pitchFamily="82" charset="0"/>
              </a:rPr>
              <a:t>YOU</a:t>
            </a:r>
          </a:p>
        </p:txBody>
      </p:sp>
    </p:spTree>
    <p:extLst>
      <p:ext uri="{BB962C8B-B14F-4D97-AF65-F5344CB8AC3E}">
        <p14:creationId xmlns:p14="http://schemas.microsoft.com/office/powerpoint/2010/main" val="346081526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40</TotalTime>
  <Words>527</Words>
  <Application>Microsoft Office PowerPoint</Application>
  <PresentationFormat>On-screen Show (4:3)</PresentationFormat>
  <Paragraphs>95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Algerian</vt:lpstr>
      <vt:lpstr>Arial</vt:lpstr>
      <vt:lpstr>Trebuchet MS</vt:lpstr>
      <vt:lpstr>Wingdings 3</vt:lpstr>
      <vt:lpstr>Facet</vt:lpstr>
      <vt:lpstr>Customer Churn Prediction Brazilian E‑Commerce (Olist Dataset)</vt:lpstr>
      <vt:lpstr>Project Objective</vt:lpstr>
      <vt:lpstr>Dataset Overview</vt:lpstr>
      <vt:lpstr>Project Workflow</vt:lpstr>
      <vt:lpstr>SQL Exploratory Data Analysis</vt:lpstr>
      <vt:lpstr>Data Cleaning &amp; Preparation</vt:lpstr>
      <vt:lpstr>Feature Engineering</vt:lpstr>
      <vt:lpstr>Monthly Sales Trend (Revenue)</vt:lpstr>
      <vt:lpstr>On‑Time vs Late Deliveries</vt:lpstr>
      <vt:lpstr>Top Product Categories by Revenue</vt:lpstr>
      <vt:lpstr>Impact of Delivery Delay on Customer Churn</vt:lpstr>
      <vt:lpstr>Customer Churn Distribution</vt:lpstr>
      <vt:lpstr>Business Recommendations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mohd arman</dc:creator>
  <cp:keywords/>
  <dc:description>generated using python-pptx</dc:description>
  <cp:lastModifiedBy>mohd arman</cp:lastModifiedBy>
  <cp:revision>3</cp:revision>
  <dcterms:created xsi:type="dcterms:W3CDTF">2013-01-27T09:14:16Z</dcterms:created>
  <dcterms:modified xsi:type="dcterms:W3CDTF">2026-03-10T11:00:09Z</dcterms:modified>
  <cp:category/>
</cp:coreProperties>
</file>